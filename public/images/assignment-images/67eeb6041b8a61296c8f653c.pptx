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Tomorrow Semi Bold"/>
      <p:regular r:id="rId17"/>
    </p:embeddedFont>
    <p:embeddedFont>
      <p:font typeface="Tomorrow Semi Bold"/>
      <p:regular r:id="rId18"/>
    </p:embeddedFont>
    <p:embeddedFont>
      <p:font typeface="Tomorrow Semi Bold"/>
      <p:regular r:id="rId19"/>
    </p:embeddedFont>
    <p:embeddedFont>
      <p:font typeface="Tomorrow Semi Bold"/>
      <p:regular r:id="rId20"/>
    </p:embeddedFont>
    <p:embeddedFont>
      <p:font typeface="Tomorrow"/>
      <p:regular r:id="rId21"/>
    </p:embeddedFont>
    <p:embeddedFont>
      <p:font typeface="Tomorrow"/>
      <p:regular r:id="rId22"/>
    </p:embeddedFont>
    <p:embeddedFont>
      <p:font typeface="Tomorrow"/>
      <p:regular r:id="rId23"/>
    </p:embeddedFont>
    <p:embeddedFont>
      <p:font typeface="Tomorrow"/>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5.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6.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7.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631275"/>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Challenges and Fairness in Federated Learning</a:t>
            </a:r>
            <a:endParaRPr lang="en-US" sz="4450" dirty="0"/>
          </a:p>
        </p:txBody>
      </p:sp>
      <p:sp>
        <p:nvSpPr>
          <p:cNvPr id="4" name="Text 1"/>
          <p:cNvSpPr/>
          <p:nvPr/>
        </p:nvSpPr>
        <p:spPr>
          <a:xfrm>
            <a:off x="793790" y="3388995"/>
            <a:ext cx="7556421" cy="362903"/>
          </a:xfrm>
          <a:prstGeom prst="rect">
            <a:avLst/>
          </a:prstGeom>
          <a:noFill/>
          <a:ln/>
        </p:spPr>
        <p:txBody>
          <a:bodyPr wrap="none" lIns="0" tIns="0" rIns="0" bIns="0" rtlCol="0" anchor="t"/>
          <a:lstStyle/>
          <a:p>
            <a:pPr algn="l" indent="0" marL="0">
              <a:lnSpc>
                <a:spcPts val="2850"/>
              </a:lnSpc>
              <a:buNone/>
            </a:pPr>
            <a:endParaRPr lang="en-US" sz="1750" dirty="0"/>
          </a:p>
        </p:txBody>
      </p:sp>
      <p:sp>
        <p:nvSpPr>
          <p:cNvPr id="5" name="Text 2"/>
          <p:cNvSpPr/>
          <p:nvPr/>
        </p:nvSpPr>
        <p:spPr>
          <a:xfrm>
            <a:off x="793790" y="4092059"/>
            <a:ext cx="4536519" cy="566976"/>
          </a:xfrm>
          <a:prstGeom prst="rect">
            <a:avLst/>
          </a:prstGeom>
          <a:noFill/>
          <a:ln/>
        </p:spPr>
        <p:txBody>
          <a:bodyPr wrap="none" lIns="0" tIns="0" rIns="0" bIns="0" rtlCol="0" anchor="t"/>
          <a:lstStyle/>
          <a:p>
            <a:pPr algn="l" indent="0" marL="0">
              <a:lnSpc>
                <a:spcPts val="4450"/>
              </a:lnSpc>
              <a:buNone/>
            </a:pPr>
            <a:endParaRPr lang="en-US" sz="3550" dirty="0"/>
          </a:p>
        </p:txBody>
      </p:sp>
      <p:sp>
        <p:nvSpPr>
          <p:cNvPr id="6" name="Text 3"/>
          <p:cNvSpPr/>
          <p:nvPr/>
        </p:nvSpPr>
        <p:spPr>
          <a:xfrm>
            <a:off x="793790" y="4999196"/>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SHAMLA SHIRIN</a:t>
            </a:r>
            <a:endParaRPr lang="en-US" sz="1750" dirty="0"/>
          </a:p>
        </p:txBody>
      </p:sp>
      <p:sp>
        <p:nvSpPr>
          <p:cNvPr id="7" name="Text 4"/>
          <p:cNvSpPr/>
          <p:nvPr/>
        </p:nvSpPr>
        <p:spPr>
          <a:xfrm>
            <a:off x="793790" y="5617250"/>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MCA S4</a:t>
            </a:r>
            <a:endParaRPr lang="en-US" sz="1750" dirty="0"/>
          </a:p>
        </p:txBody>
      </p:sp>
      <p:sp>
        <p:nvSpPr>
          <p:cNvPr id="8" name="Text 5"/>
          <p:cNvSpPr/>
          <p:nvPr/>
        </p:nvSpPr>
        <p:spPr>
          <a:xfrm>
            <a:off x="793790" y="6235303"/>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ROLL NO : 24</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084183"/>
            <a:ext cx="8148638" cy="708779"/>
          </a:xfrm>
          <a:prstGeom prst="rect">
            <a:avLst/>
          </a:prstGeom>
          <a:noFill/>
          <a:ln/>
        </p:spPr>
        <p:txBody>
          <a:bodyPr wrap="none" lIns="0" tIns="0" rIns="0" bIns="0" rtlCol="0" anchor="t"/>
          <a:lstStyle/>
          <a:p>
            <a:pPr algn="l" indent="0" marL="0">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What is Federated Learning?</a:t>
            </a:r>
            <a:endParaRPr lang="en-US" sz="4450" dirty="0"/>
          </a:p>
        </p:txBody>
      </p:sp>
      <p:sp>
        <p:nvSpPr>
          <p:cNvPr id="3" name="Text 1"/>
          <p:cNvSpPr/>
          <p:nvPr/>
        </p:nvSpPr>
        <p:spPr>
          <a:xfrm>
            <a:off x="793790" y="2337197"/>
            <a:ext cx="6244709" cy="725805"/>
          </a:xfrm>
          <a:prstGeom prst="rect">
            <a:avLst/>
          </a:prstGeom>
          <a:noFill/>
          <a:ln/>
        </p:spPr>
        <p:txBody>
          <a:bodyPr wrap="square" lIns="0" tIns="0" rIns="0" bIns="0" rtlCol="0" anchor="t"/>
          <a:lstStyle/>
          <a:p>
            <a:pPr algn="l" indent="0" marL="0">
              <a:lnSpc>
                <a:spcPts val="2850"/>
              </a:lnSpc>
              <a:buNone/>
            </a:pPr>
            <a:r>
              <a:rPr lang="en-US" sz="1750" b="1" dirty="0">
                <a:solidFill>
                  <a:srgbClr val="C9C9C0"/>
                </a:solidFill>
                <a:latin typeface="Tomorrow" pitchFamily="34" charset="0"/>
                <a:ea typeface="Tomorrow" pitchFamily="34" charset="-122"/>
                <a:cs typeface="Tomorrow" pitchFamily="34" charset="-120"/>
              </a:rPr>
              <a:t>Decentralized Training:</a:t>
            </a:r>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 Trains models on distributed devices, leveraging local data without centralizing it.</a:t>
            </a:r>
            <a:endParaRPr lang="en-US" sz="1750" dirty="0"/>
          </a:p>
        </p:txBody>
      </p:sp>
      <p:sp>
        <p:nvSpPr>
          <p:cNvPr id="4" name="Text 2"/>
          <p:cNvSpPr/>
          <p:nvPr/>
        </p:nvSpPr>
        <p:spPr>
          <a:xfrm>
            <a:off x="793790" y="3267075"/>
            <a:ext cx="6244709" cy="1088708"/>
          </a:xfrm>
          <a:prstGeom prst="rect">
            <a:avLst/>
          </a:prstGeom>
          <a:noFill/>
          <a:ln/>
        </p:spPr>
        <p:txBody>
          <a:bodyPr wrap="square" lIns="0" tIns="0" rIns="0" bIns="0" rtlCol="0" anchor="t"/>
          <a:lstStyle/>
          <a:p>
            <a:pPr algn="l" indent="0" marL="0">
              <a:lnSpc>
                <a:spcPts val="2850"/>
              </a:lnSpc>
              <a:buNone/>
            </a:pPr>
            <a:r>
              <a:rPr lang="en-US" sz="1750" b="1" dirty="0">
                <a:solidFill>
                  <a:srgbClr val="C9C9C0"/>
                </a:solidFill>
                <a:latin typeface="Tomorrow" pitchFamily="34" charset="0"/>
                <a:ea typeface="Tomorrow" pitchFamily="34" charset="-122"/>
                <a:cs typeface="Tomorrow" pitchFamily="34" charset="-120"/>
              </a:rPr>
              <a:t>Privacy-Preserving:</a:t>
            </a:r>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 Protects user privacy by keeping data on devices; only model updates are shared, not the raw data.</a:t>
            </a:r>
            <a:endParaRPr lang="en-US" sz="1750" dirty="0"/>
          </a:p>
        </p:txBody>
      </p:sp>
      <p:sp>
        <p:nvSpPr>
          <p:cNvPr id="5" name="Text 3"/>
          <p:cNvSpPr/>
          <p:nvPr/>
        </p:nvSpPr>
        <p:spPr>
          <a:xfrm>
            <a:off x="793790" y="4559856"/>
            <a:ext cx="6244709" cy="1088708"/>
          </a:xfrm>
          <a:prstGeom prst="rect">
            <a:avLst/>
          </a:prstGeom>
          <a:noFill/>
          <a:ln/>
        </p:spPr>
        <p:txBody>
          <a:bodyPr wrap="square" lIns="0" tIns="0" rIns="0" bIns="0" rtlCol="0" anchor="t"/>
          <a:lstStyle/>
          <a:p>
            <a:pPr algn="l" indent="0" marL="0">
              <a:lnSpc>
                <a:spcPts val="2850"/>
              </a:lnSpc>
              <a:buNone/>
            </a:pPr>
            <a:r>
              <a:rPr lang="en-US" sz="1750" b="1" dirty="0">
                <a:solidFill>
                  <a:srgbClr val="C9C9C0"/>
                </a:solidFill>
                <a:latin typeface="Tomorrow" pitchFamily="34" charset="0"/>
                <a:ea typeface="Tomorrow" pitchFamily="34" charset="-122"/>
                <a:cs typeface="Tomorrow" pitchFamily="34" charset="-120"/>
              </a:rPr>
              <a:t>Iterative Global Improvement:</a:t>
            </a:r>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 Improves a shared global model through aggregated updates from individual devices.</a:t>
            </a:r>
            <a:endParaRPr lang="en-US" sz="1750" dirty="0"/>
          </a:p>
        </p:txBody>
      </p:sp>
      <p:sp>
        <p:nvSpPr>
          <p:cNvPr id="6" name="Text 4"/>
          <p:cNvSpPr/>
          <p:nvPr/>
        </p:nvSpPr>
        <p:spPr>
          <a:xfrm>
            <a:off x="793790" y="5852636"/>
            <a:ext cx="6244709" cy="1088708"/>
          </a:xfrm>
          <a:prstGeom prst="rect">
            <a:avLst/>
          </a:prstGeom>
          <a:noFill/>
          <a:ln/>
        </p:spPr>
        <p:txBody>
          <a:bodyPr wrap="square" lIns="0" tIns="0" rIns="0" bIns="0" rtlCol="0" anchor="t"/>
          <a:lstStyle/>
          <a:p>
            <a:pPr algn="l" indent="0" marL="0">
              <a:lnSpc>
                <a:spcPts val="2850"/>
              </a:lnSpc>
              <a:buNone/>
            </a:pPr>
            <a:r>
              <a:rPr lang="en-US" sz="1750" b="1" dirty="0">
                <a:solidFill>
                  <a:srgbClr val="C9C9C0"/>
                </a:solidFill>
                <a:latin typeface="Tomorrow" pitchFamily="34" charset="0"/>
                <a:ea typeface="Tomorrow" pitchFamily="34" charset="-122"/>
                <a:cs typeface="Tomorrow" pitchFamily="34" charset="-120"/>
              </a:rPr>
              <a:t>Fairness Considerations:</a:t>
            </a:r>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 Aims to reduce bias and ensure equitable model performance across diverse user groups.</a:t>
            </a:r>
            <a:endParaRPr lang="en-US" sz="1750" dirty="0"/>
          </a:p>
        </p:txBody>
      </p:sp>
      <p:pic>
        <p:nvPicPr>
          <p:cNvPr id="7" name="Image 0" descr="preencoded.png">    </p:cNvPr>
          <p:cNvPicPr>
            <a:picLocks noChangeAspect="1"/>
          </p:cNvPicPr>
          <p:nvPr/>
        </p:nvPicPr>
        <p:blipFill>
          <a:blip r:embed="rId1"/>
          <a:stretch>
            <a:fillRect/>
          </a:stretch>
        </p:blipFill>
        <p:spPr>
          <a:xfrm>
            <a:off x="7599521" y="2388275"/>
            <a:ext cx="6244709" cy="427267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636151"/>
            <a:ext cx="7277219" cy="708779"/>
          </a:xfrm>
          <a:prstGeom prst="rect">
            <a:avLst/>
          </a:prstGeom>
          <a:noFill/>
          <a:ln/>
        </p:spPr>
        <p:txBody>
          <a:bodyPr wrap="none" lIns="0" tIns="0" rIns="0" bIns="0" rtlCol="0" anchor="t"/>
          <a:lstStyle/>
          <a:p>
            <a:pPr algn="l" indent="0" marL="0">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Challenges in FL Fairness</a:t>
            </a:r>
            <a:endParaRPr lang="en-US" sz="4450" dirty="0"/>
          </a:p>
        </p:txBody>
      </p:sp>
      <p:sp>
        <p:nvSpPr>
          <p:cNvPr id="4" name="Shape 1"/>
          <p:cNvSpPr/>
          <p:nvPr/>
        </p:nvSpPr>
        <p:spPr>
          <a:xfrm>
            <a:off x="6280190" y="1685092"/>
            <a:ext cx="7556421" cy="1306949"/>
          </a:xfrm>
          <a:prstGeom prst="roundRect">
            <a:avLst>
              <a:gd name="adj" fmla="val 2603"/>
            </a:avLst>
          </a:prstGeom>
          <a:solidFill>
            <a:srgbClr val="3C3C3A"/>
          </a:solidFill>
          <a:ln/>
        </p:spPr>
      </p:sp>
      <p:sp>
        <p:nvSpPr>
          <p:cNvPr id="5" name="Text 2"/>
          <p:cNvSpPr/>
          <p:nvPr/>
        </p:nvSpPr>
        <p:spPr>
          <a:xfrm>
            <a:off x="6507004" y="191190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Non-IID Data</a:t>
            </a:r>
            <a:endParaRPr lang="en-US" sz="2200" dirty="0"/>
          </a:p>
        </p:txBody>
      </p:sp>
      <p:sp>
        <p:nvSpPr>
          <p:cNvPr id="6" name="Text 3"/>
          <p:cNvSpPr/>
          <p:nvPr/>
        </p:nvSpPr>
        <p:spPr>
          <a:xfrm>
            <a:off x="6507004" y="2402324"/>
            <a:ext cx="7102793" cy="362903"/>
          </a:xfrm>
          <a:prstGeom prst="rect">
            <a:avLst/>
          </a:prstGeom>
          <a:noFill/>
          <a:ln/>
        </p:spPr>
        <p:txBody>
          <a:bodyPr wrap="non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Bias across clients</a:t>
            </a:r>
            <a:endParaRPr lang="en-US" sz="1750" dirty="0"/>
          </a:p>
        </p:txBody>
      </p:sp>
      <p:sp>
        <p:nvSpPr>
          <p:cNvPr id="7" name="Shape 4"/>
          <p:cNvSpPr/>
          <p:nvPr/>
        </p:nvSpPr>
        <p:spPr>
          <a:xfrm>
            <a:off x="6280190" y="3218855"/>
            <a:ext cx="7556421" cy="1306949"/>
          </a:xfrm>
          <a:prstGeom prst="roundRect">
            <a:avLst>
              <a:gd name="adj" fmla="val 2603"/>
            </a:avLst>
          </a:prstGeom>
          <a:solidFill>
            <a:srgbClr val="3C3C3A"/>
          </a:solidFill>
          <a:ln/>
        </p:spPr>
      </p:sp>
      <p:sp>
        <p:nvSpPr>
          <p:cNvPr id="8" name="Text 5"/>
          <p:cNvSpPr/>
          <p:nvPr/>
        </p:nvSpPr>
        <p:spPr>
          <a:xfrm>
            <a:off x="6507004" y="3445669"/>
            <a:ext cx="2932986" cy="354330"/>
          </a:xfrm>
          <a:prstGeom prst="rect">
            <a:avLst/>
          </a:prstGeom>
          <a:noFill/>
          <a:ln/>
        </p:spPr>
        <p:txBody>
          <a:bodyPr wrap="none" lIns="0" tIns="0" rIns="0" bIns="0" rtlCol="0" anchor="t"/>
          <a:lstStyle/>
          <a:p>
            <a:pPr algn="l" indent="0" marL="0">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Client Selection Bias</a:t>
            </a:r>
            <a:endParaRPr lang="en-US" sz="2200" dirty="0"/>
          </a:p>
        </p:txBody>
      </p:sp>
      <p:sp>
        <p:nvSpPr>
          <p:cNvPr id="9" name="Text 6"/>
          <p:cNvSpPr/>
          <p:nvPr/>
        </p:nvSpPr>
        <p:spPr>
          <a:xfrm>
            <a:off x="6507004" y="3936087"/>
            <a:ext cx="7102793" cy="362903"/>
          </a:xfrm>
          <a:prstGeom prst="rect">
            <a:avLst/>
          </a:prstGeom>
          <a:noFill/>
          <a:ln/>
        </p:spPr>
        <p:txBody>
          <a:bodyPr wrap="non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Unequal contribution</a:t>
            </a:r>
            <a:endParaRPr lang="en-US" sz="1750" dirty="0"/>
          </a:p>
        </p:txBody>
      </p:sp>
      <p:sp>
        <p:nvSpPr>
          <p:cNvPr id="10" name="Shape 7"/>
          <p:cNvSpPr/>
          <p:nvPr/>
        </p:nvSpPr>
        <p:spPr>
          <a:xfrm>
            <a:off x="6280190" y="4752618"/>
            <a:ext cx="7556421" cy="1306949"/>
          </a:xfrm>
          <a:prstGeom prst="roundRect">
            <a:avLst>
              <a:gd name="adj" fmla="val 2603"/>
            </a:avLst>
          </a:prstGeom>
          <a:solidFill>
            <a:srgbClr val="3C3C3A"/>
          </a:solidFill>
          <a:ln/>
        </p:spPr>
      </p:sp>
      <p:sp>
        <p:nvSpPr>
          <p:cNvPr id="11" name="Text 8"/>
          <p:cNvSpPr/>
          <p:nvPr/>
        </p:nvSpPr>
        <p:spPr>
          <a:xfrm>
            <a:off x="6507004" y="4979432"/>
            <a:ext cx="3086457" cy="354330"/>
          </a:xfrm>
          <a:prstGeom prst="rect">
            <a:avLst/>
          </a:prstGeom>
          <a:noFill/>
          <a:ln/>
        </p:spPr>
        <p:txBody>
          <a:bodyPr wrap="none" lIns="0" tIns="0" rIns="0" bIns="0" rtlCol="0" anchor="t"/>
          <a:lstStyle/>
          <a:p>
            <a:pPr algn="l" indent="0" marL="0">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Resource Constraints</a:t>
            </a:r>
            <a:endParaRPr lang="en-US" sz="2200" dirty="0"/>
          </a:p>
        </p:txBody>
      </p:sp>
      <p:sp>
        <p:nvSpPr>
          <p:cNvPr id="12" name="Text 9"/>
          <p:cNvSpPr/>
          <p:nvPr/>
        </p:nvSpPr>
        <p:spPr>
          <a:xfrm>
            <a:off x="6507004" y="5469850"/>
            <a:ext cx="7102793" cy="362903"/>
          </a:xfrm>
          <a:prstGeom prst="rect">
            <a:avLst/>
          </a:prstGeom>
          <a:noFill/>
          <a:ln/>
        </p:spPr>
        <p:txBody>
          <a:bodyPr wrap="non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Varying compute power</a:t>
            </a:r>
            <a:endParaRPr lang="en-US" sz="1750" dirty="0"/>
          </a:p>
        </p:txBody>
      </p:sp>
      <p:sp>
        <p:nvSpPr>
          <p:cNvPr id="13" name="Shape 10"/>
          <p:cNvSpPr/>
          <p:nvPr/>
        </p:nvSpPr>
        <p:spPr>
          <a:xfrm>
            <a:off x="6280190" y="6286381"/>
            <a:ext cx="7556421" cy="1306949"/>
          </a:xfrm>
          <a:prstGeom prst="roundRect">
            <a:avLst>
              <a:gd name="adj" fmla="val 2603"/>
            </a:avLst>
          </a:prstGeom>
          <a:solidFill>
            <a:srgbClr val="3C3C3A"/>
          </a:solidFill>
          <a:ln/>
        </p:spPr>
      </p:sp>
      <p:sp>
        <p:nvSpPr>
          <p:cNvPr id="14" name="Text 11"/>
          <p:cNvSpPr/>
          <p:nvPr/>
        </p:nvSpPr>
        <p:spPr>
          <a:xfrm>
            <a:off x="6507004" y="651319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Security Threats</a:t>
            </a:r>
            <a:endParaRPr lang="en-US" sz="2200" dirty="0"/>
          </a:p>
        </p:txBody>
      </p:sp>
      <p:sp>
        <p:nvSpPr>
          <p:cNvPr id="15" name="Text 12"/>
          <p:cNvSpPr/>
          <p:nvPr/>
        </p:nvSpPr>
        <p:spPr>
          <a:xfrm>
            <a:off x="6507004" y="7003613"/>
            <a:ext cx="7102793" cy="362903"/>
          </a:xfrm>
          <a:prstGeom prst="rect">
            <a:avLst/>
          </a:prstGeom>
          <a:noFill/>
          <a:ln/>
        </p:spPr>
        <p:txBody>
          <a:bodyPr wrap="non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Adversarial attacks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430185"/>
          </a:xfrm>
          <a:prstGeom prst="rect">
            <a:avLst/>
          </a:prstGeom>
        </p:spPr>
      </p:pic>
      <p:sp>
        <p:nvSpPr>
          <p:cNvPr id="3" name="Text 0"/>
          <p:cNvSpPr/>
          <p:nvPr/>
        </p:nvSpPr>
        <p:spPr>
          <a:xfrm>
            <a:off x="680442" y="2964775"/>
            <a:ext cx="7940040" cy="607457"/>
          </a:xfrm>
          <a:prstGeom prst="rect">
            <a:avLst/>
          </a:prstGeom>
          <a:noFill/>
          <a:ln/>
        </p:spPr>
        <p:txBody>
          <a:bodyPr wrap="none" lIns="0" tIns="0" rIns="0" bIns="0" rtlCol="0" anchor="t"/>
          <a:lstStyle/>
          <a:p>
            <a:pPr algn="l" indent="0" marL="0">
              <a:lnSpc>
                <a:spcPts val="4750"/>
              </a:lnSpc>
              <a:buNone/>
            </a:pPr>
            <a:r>
              <a:rPr lang="en-US" sz="3800" dirty="0">
                <a:solidFill>
                  <a:srgbClr val="EDEDE8"/>
                </a:solidFill>
                <a:latin typeface="Tomorrow Semi Bold" pitchFamily="34" charset="0"/>
                <a:ea typeface="Tomorrow Semi Bold" pitchFamily="34" charset="-122"/>
                <a:cs typeface="Tomorrow Semi Bold" pitchFamily="34" charset="-120"/>
              </a:rPr>
              <a:t>Approaches to Address Fairness</a:t>
            </a:r>
            <a:endParaRPr lang="en-US" sz="3800" dirty="0"/>
          </a:p>
        </p:txBody>
      </p:sp>
      <p:pic>
        <p:nvPicPr>
          <p:cNvPr id="4" name="Image 1" descr="preencoded.png">    </p:cNvPr>
          <p:cNvPicPr>
            <a:picLocks noChangeAspect="1"/>
          </p:cNvPicPr>
          <p:nvPr/>
        </p:nvPicPr>
        <p:blipFill>
          <a:blip r:embed="rId2"/>
          <a:stretch>
            <a:fillRect/>
          </a:stretch>
        </p:blipFill>
        <p:spPr>
          <a:xfrm>
            <a:off x="680442" y="3863816"/>
            <a:ext cx="972026" cy="1166455"/>
          </a:xfrm>
          <a:prstGeom prst="rect">
            <a:avLst/>
          </a:prstGeom>
        </p:spPr>
      </p:pic>
      <p:sp>
        <p:nvSpPr>
          <p:cNvPr id="5" name="Text 1"/>
          <p:cNvSpPr/>
          <p:nvPr/>
        </p:nvSpPr>
        <p:spPr>
          <a:xfrm>
            <a:off x="1944053" y="4058126"/>
            <a:ext cx="2430185" cy="303728"/>
          </a:xfrm>
          <a:prstGeom prst="rect">
            <a:avLst/>
          </a:prstGeom>
          <a:noFill/>
          <a:ln/>
        </p:spPr>
        <p:txBody>
          <a:bodyPr wrap="none" lIns="0" tIns="0" rIns="0" bIns="0" rtlCol="0" anchor="t"/>
          <a:lstStyle/>
          <a:p>
            <a:pPr algn="l" indent="0" marL="0">
              <a:lnSpc>
                <a:spcPts val="2350"/>
              </a:lnSpc>
              <a:buNone/>
            </a:pPr>
            <a:r>
              <a:rPr lang="en-US" sz="1900" dirty="0">
                <a:solidFill>
                  <a:srgbClr val="C9C9C0"/>
                </a:solidFill>
                <a:latin typeface="Tomorrow Semi Bold" pitchFamily="34" charset="0"/>
                <a:ea typeface="Tomorrow Semi Bold" pitchFamily="34" charset="-122"/>
                <a:cs typeface="Tomorrow Semi Bold" pitchFamily="34" charset="-120"/>
              </a:rPr>
              <a:t>Fair Client Selection</a:t>
            </a:r>
            <a:endParaRPr lang="en-US" sz="1900" dirty="0"/>
          </a:p>
        </p:txBody>
      </p:sp>
      <p:sp>
        <p:nvSpPr>
          <p:cNvPr id="6" name="Text 2"/>
          <p:cNvSpPr/>
          <p:nvPr/>
        </p:nvSpPr>
        <p:spPr>
          <a:xfrm>
            <a:off x="1944053" y="4478417"/>
            <a:ext cx="12005905" cy="310991"/>
          </a:xfrm>
          <a:prstGeom prst="rect">
            <a:avLst/>
          </a:prstGeom>
          <a:noFill/>
          <a:ln/>
        </p:spPr>
        <p:txBody>
          <a:bodyPr wrap="none" lIns="0" tIns="0" rIns="0" bIns="0" rtlCol="0" anchor="t"/>
          <a:lstStyle/>
          <a:p>
            <a:pPr algn="l" indent="0" marL="0">
              <a:lnSpc>
                <a:spcPts val="2400"/>
              </a:lnSpc>
              <a:buNone/>
            </a:pPr>
            <a:r>
              <a:rPr lang="en-US" sz="1500" dirty="0">
                <a:solidFill>
                  <a:srgbClr val="C9C9C0"/>
                </a:solidFill>
                <a:latin typeface="Tomorrow" pitchFamily="34" charset="0"/>
                <a:ea typeface="Tomorrow" pitchFamily="34" charset="-122"/>
                <a:cs typeface="Tomorrow" pitchFamily="34" charset="-120"/>
              </a:rPr>
              <a:t>Diverse participation</a:t>
            </a:r>
            <a:endParaRPr lang="en-US" sz="1500" dirty="0"/>
          </a:p>
        </p:txBody>
      </p:sp>
      <p:pic>
        <p:nvPicPr>
          <p:cNvPr id="7" name="Image 2" descr="preencoded.png">    </p:cNvPr>
          <p:cNvPicPr>
            <a:picLocks noChangeAspect="1"/>
          </p:cNvPicPr>
          <p:nvPr/>
        </p:nvPicPr>
        <p:blipFill>
          <a:blip r:embed="rId3"/>
          <a:stretch>
            <a:fillRect/>
          </a:stretch>
        </p:blipFill>
        <p:spPr>
          <a:xfrm>
            <a:off x="680442" y="5030272"/>
            <a:ext cx="972026" cy="1166455"/>
          </a:xfrm>
          <a:prstGeom prst="rect">
            <a:avLst/>
          </a:prstGeom>
        </p:spPr>
      </p:pic>
      <p:sp>
        <p:nvSpPr>
          <p:cNvPr id="8" name="Text 3"/>
          <p:cNvSpPr/>
          <p:nvPr/>
        </p:nvSpPr>
        <p:spPr>
          <a:xfrm>
            <a:off x="1944053" y="5224582"/>
            <a:ext cx="2840355" cy="303728"/>
          </a:xfrm>
          <a:prstGeom prst="rect">
            <a:avLst/>
          </a:prstGeom>
          <a:noFill/>
          <a:ln/>
        </p:spPr>
        <p:txBody>
          <a:bodyPr wrap="none" lIns="0" tIns="0" rIns="0" bIns="0" rtlCol="0" anchor="t"/>
          <a:lstStyle/>
          <a:p>
            <a:pPr algn="l" indent="0" marL="0">
              <a:lnSpc>
                <a:spcPts val="2350"/>
              </a:lnSpc>
              <a:buNone/>
            </a:pPr>
            <a:r>
              <a:rPr lang="en-US" sz="1900" dirty="0">
                <a:solidFill>
                  <a:srgbClr val="C9C9C0"/>
                </a:solidFill>
                <a:latin typeface="Tomorrow Semi Bold" pitchFamily="34" charset="0"/>
                <a:ea typeface="Tomorrow Semi Bold" pitchFamily="34" charset="-122"/>
                <a:cs typeface="Tomorrow Semi Bold" pitchFamily="34" charset="-120"/>
              </a:rPr>
              <a:t>Fair Model Aggregation</a:t>
            </a:r>
            <a:endParaRPr lang="en-US" sz="1900" dirty="0"/>
          </a:p>
        </p:txBody>
      </p:sp>
      <p:sp>
        <p:nvSpPr>
          <p:cNvPr id="9" name="Text 4"/>
          <p:cNvSpPr/>
          <p:nvPr/>
        </p:nvSpPr>
        <p:spPr>
          <a:xfrm>
            <a:off x="1944053" y="5644872"/>
            <a:ext cx="12005905" cy="310991"/>
          </a:xfrm>
          <a:prstGeom prst="rect">
            <a:avLst/>
          </a:prstGeom>
          <a:noFill/>
          <a:ln/>
        </p:spPr>
        <p:txBody>
          <a:bodyPr wrap="none" lIns="0" tIns="0" rIns="0" bIns="0" rtlCol="0" anchor="t"/>
          <a:lstStyle/>
          <a:p>
            <a:pPr algn="l" indent="0" marL="0">
              <a:lnSpc>
                <a:spcPts val="2400"/>
              </a:lnSpc>
              <a:buNone/>
            </a:pPr>
            <a:r>
              <a:rPr lang="en-US" sz="1500" dirty="0">
                <a:solidFill>
                  <a:srgbClr val="C9C9C0"/>
                </a:solidFill>
                <a:latin typeface="Tomorrow" pitchFamily="34" charset="0"/>
                <a:ea typeface="Tomorrow" pitchFamily="34" charset="-122"/>
                <a:cs typeface="Tomorrow" pitchFamily="34" charset="-120"/>
              </a:rPr>
              <a:t>Balance model updates</a:t>
            </a:r>
            <a:endParaRPr lang="en-US" sz="1500" dirty="0"/>
          </a:p>
        </p:txBody>
      </p:sp>
      <p:pic>
        <p:nvPicPr>
          <p:cNvPr id="10" name="Image 3" descr="preencoded.png">    </p:cNvPr>
          <p:cNvPicPr>
            <a:picLocks noChangeAspect="1"/>
          </p:cNvPicPr>
          <p:nvPr/>
        </p:nvPicPr>
        <p:blipFill>
          <a:blip r:embed="rId4"/>
          <a:stretch>
            <a:fillRect/>
          </a:stretch>
        </p:blipFill>
        <p:spPr>
          <a:xfrm>
            <a:off x="680442" y="6196727"/>
            <a:ext cx="972026" cy="1498878"/>
          </a:xfrm>
          <a:prstGeom prst="rect">
            <a:avLst/>
          </a:prstGeom>
        </p:spPr>
      </p:pic>
      <p:sp>
        <p:nvSpPr>
          <p:cNvPr id="11" name="Text 5"/>
          <p:cNvSpPr/>
          <p:nvPr/>
        </p:nvSpPr>
        <p:spPr>
          <a:xfrm>
            <a:off x="1944053" y="6391037"/>
            <a:ext cx="2917865" cy="303728"/>
          </a:xfrm>
          <a:prstGeom prst="rect">
            <a:avLst/>
          </a:prstGeom>
          <a:noFill/>
          <a:ln/>
        </p:spPr>
        <p:txBody>
          <a:bodyPr wrap="none" lIns="0" tIns="0" rIns="0" bIns="0" rtlCol="0" anchor="t"/>
          <a:lstStyle/>
          <a:p>
            <a:pPr algn="l" indent="0" marL="0">
              <a:lnSpc>
                <a:spcPts val="2350"/>
              </a:lnSpc>
              <a:buNone/>
            </a:pPr>
            <a:r>
              <a:rPr lang="en-US" sz="1900" dirty="0">
                <a:solidFill>
                  <a:srgbClr val="C9C9C0"/>
                </a:solidFill>
                <a:latin typeface="Tomorrow Semi Bold" pitchFamily="34" charset="0"/>
                <a:ea typeface="Tomorrow Semi Bold" pitchFamily="34" charset="-122"/>
                <a:cs typeface="Tomorrow Semi Bold" pitchFamily="34" charset="-120"/>
              </a:rPr>
              <a:t>Algorithmic Techniques</a:t>
            </a:r>
            <a:endParaRPr lang="en-US" sz="1900" dirty="0"/>
          </a:p>
        </p:txBody>
      </p:sp>
      <p:sp>
        <p:nvSpPr>
          <p:cNvPr id="12" name="Text 6"/>
          <p:cNvSpPr/>
          <p:nvPr/>
        </p:nvSpPr>
        <p:spPr>
          <a:xfrm>
            <a:off x="1944053" y="6811328"/>
            <a:ext cx="12005905" cy="310991"/>
          </a:xfrm>
          <a:prstGeom prst="rect">
            <a:avLst/>
          </a:prstGeom>
          <a:noFill/>
          <a:ln/>
        </p:spPr>
        <p:txBody>
          <a:bodyPr wrap="none" lIns="0" tIns="0" rIns="0" bIns="0" rtlCol="0" anchor="t"/>
          <a:lstStyle/>
          <a:p>
            <a:pPr algn="l" marL="342900" indent="-342900">
              <a:lnSpc>
                <a:spcPts val="2400"/>
              </a:lnSpc>
              <a:buSzPct val="100000"/>
              <a:buChar char="•"/>
            </a:pPr>
            <a:r>
              <a:rPr lang="en-US" sz="1500" dirty="0">
                <a:solidFill>
                  <a:srgbClr val="C9C9C0"/>
                </a:solidFill>
                <a:latin typeface="Tomorrow" pitchFamily="34" charset="0"/>
                <a:ea typeface="Tomorrow" pitchFamily="34" charset="-122"/>
                <a:cs typeface="Tomorrow" pitchFamily="34" charset="-120"/>
              </a:rPr>
              <a:t>FedMinMax</a:t>
            </a:r>
            <a:endParaRPr lang="en-US" sz="1500" dirty="0"/>
          </a:p>
        </p:txBody>
      </p:sp>
      <p:sp>
        <p:nvSpPr>
          <p:cNvPr id="13" name="Text 7"/>
          <p:cNvSpPr/>
          <p:nvPr/>
        </p:nvSpPr>
        <p:spPr>
          <a:xfrm>
            <a:off x="1944053" y="7190303"/>
            <a:ext cx="12005905" cy="310991"/>
          </a:xfrm>
          <a:prstGeom prst="rect">
            <a:avLst/>
          </a:prstGeom>
          <a:noFill/>
          <a:ln/>
        </p:spPr>
        <p:txBody>
          <a:bodyPr wrap="none" lIns="0" tIns="0" rIns="0" bIns="0" rtlCol="0" anchor="t"/>
          <a:lstStyle/>
          <a:p>
            <a:pPr algn="l" marL="342900" indent="-342900">
              <a:lnSpc>
                <a:spcPts val="2400"/>
              </a:lnSpc>
              <a:buSzPct val="100000"/>
              <a:buChar char="•"/>
            </a:pPr>
            <a:r>
              <a:rPr lang="en-US" sz="1500" dirty="0">
                <a:solidFill>
                  <a:srgbClr val="C9C9C0"/>
                </a:solidFill>
                <a:latin typeface="Tomorrow" pitchFamily="34" charset="0"/>
                <a:ea typeface="Tomorrow" pitchFamily="34" charset="-122"/>
                <a:cs typeface="Tomorrow" pitchFamily="34" charset="-120"/>
              </a:rPr>
              <a:t>AgnosticFair</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835235"/>
          </a:xfrm>
          <a:prstGeom prst="rect">
            <a:avLst/>
          </a:prstGeom>
        </p:spPr>
      </p:pic>
      <p:sp>
        <p:nvSpPr>
          <p:cNvPr id="3" name="Text 0"/>
          <p:cNvSpPr/>
          <p:nvPr/>
        </p:nvSpPr>
        <p:spPr>
          <a:xfrm>
            <a:off x="793790" y="3481149"/>
            <a:ext cx="9005292" cy="708779"/>
          </a:xfrm>
          <a:prstGeom prst="rect">
            <a:avLst/>
          </a:prstGeom>
          <a:noFill/>
          <a:ln/>
        </p:spPr>
        <p:txBody>
          <a:bodyPr wrap="none" lIns="0" tIns="0" rIns="0" bIns="0" rtlCol="0" anchor="t"/>
          <a:lstStyle/>
          <a:p>
            <a:pPr algn="l" indent="0" marL="0">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Privacy-Preserving Techniques</a:t>
            </a:r>
            <a:endParaRPr lang="en-US" sz="4450" dirty="0"/>
          </a:p>
        </p:txBody>
      </p:sp>
      <p:sp>
        <p:nvSpPr>
          <p:cNvPr id="4" name="Shape 1"/>
          <p:cNvSpPr/>
          <p:nvPr/>
        </p:nvSpPr>
        <p:spPr>
          <a:xfrm>
            <a:off x="7299960" y="4530090"/>
            <a:ext cx="30480" cy="3053477"/>
          </a:xfrm>
          <a:prstGeom prst="roundRect">
            <a:avLst>
              <a:gd name="adj" fmla="val 111628"/>
            </a:avLst>
          </a:prstGeom>
          <a:solidFill>
            <a:srgbClr val="555553"/>
          </a:solidFill>
          <a:ln/>
        </p:spPr>
      </p:sp>
      <p:sp>
        <p:nvSpPr>
          <p:cNvPr id="5" name="Shape 2"/>
          <p:cNvSpPr/>
          <p:nvPr/>
        </p:nvSpPr>
        <p:spPr>
          <a:xfrm>
            <a:off x="6410087" y="5025152"/>
            <a:ext cx="680442" cy="30480"/>
          </a:xfrm>
          <a:prstGeom prst="roundRect">
            <a:avLst>
              <a:gd name="adj" fmla="val 111628"/>
            </a:avLst>
          </a:prstGeom>
          <a:solidFill>
            <a:srgbClr val="555553"/>
          </a:solidFill>
          <a:ln/>
        </p:spPr>
      </p:sp>
      <p:sp>
        <p:nvSpPr>
          <p:cNvPr id="6" name="Shape 3"/>
          <p:cNvSpPr/>
          <p:nvPr/>
        </p:nvSpPr>
        <p:spPr>
          <a:xfrm>
            <a:off x="7060049" y="4785241"/>
            <a:ext cx="510302" cy="510302"/>
          </a:xfrm>
          <a:prstGeom prst="roundRect">
            <a:avLst>
              <a:gd name="adj" fmla="val 6667"/>
            </a:avLst>
          </a:prstGeom>
          <a:solidFill>
            <a:srgbClr val="3C3C3A"/>
          </a:solidFill>
          <a:ln/>
        </p:spPr>
      </p:sp>
      <p:pic>
        <p:nvPicPr>
          <p:cNvPr id="7" name="Image 1" descr="preencoded.png">    </p:cNvPr>
          <p:cNvPicPr>
            <a:picLocks noChangeAspect="1"/>
          </p:cNvPicPr>
          <p:nvPr/>
        </p:nvPicPr>
        <p:blipFill>
          <a:blip r:embed="rId2"/>
          <a:stretch>
            <a:fillRect/>
          </a:stretch>
        </p:blipFill>
        <p:spPr>
          <a:xfrm>
            <a:off x="7145119" y="4827746"/>
            <a:ext cx="340162" cy="425291"/>
          </a:xfrm>
          <a:prstGeom prst="rect">
            <a:avLst/>
          </a:prstGeom>
        </p:spPr>
      </p:pic>
      <p:sp>
        <p:nvSpPr>
          <p:cNvPr id="8" name="Text 4"/>
          <p:cNvSpPr/>
          <p:nvPr/>
        </p:nvSpPr>
        <p:spPr>
          <a:xfrm>
            <a:off x="2775585" y="4756904"/>
            <a:ext cx="3405545" cy="354330"/>
          </a:xfrm>
          <a:prstGeom prst="rect">
            <a:avLst/>
          </a:prstGeom>
          <a:noFill/>
          <a:ln/>
        </p:spPr>
        <p:txBody>
          <a:bodyPr wrap="none" lIns="0" tIns="0" rIns="0" bIns="0" rtlCol="0" anchor="t"/>
          <a:lstStyle/>
          <a:p>
            <a:pPr algn="r" indent="0" marL="0">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Differential Privacy (DP)</a:t>
            </a:r>
            <a:endParaRPr lang="en-US" sz="2200" dirty="0"/>
          </a:p>
        </p:txBody>
      </p:sp>
      <p:sp>
        <p:nvSpPr>
          <p:cNvPr id="9" name="Text 5"/>
          <p:cNvSpPr/>
          <p:nvPr/>
        </p:nvSpPr>
        <p:spPr>
          <a:xfrm>
            <a:off x="793790" y="5247323"/>
            <a:ext cx="5387340" cy="1088708"/>
          </a:xfrm>
          <a:prstGeom prst="rect">
            <a:avLst/>
          </a:prstGeom>
          <a:noFill/>
          <a:ln/>
        </p:spPr>
        <p:txBody>
          <a:bodyPr wrap="square" lIns="0" tIns="0" rIns="0" bIns="0" rtlCol="0" anchor="t"/>
          <a:lstStyle/>
          <a:p>
            <a:pPr algn="r" indent="0" marL="0">
              <a:lnSpc>
                <a:spcPts val="2850"/>
              </a:lnSpc>
              <a:buNone/>
            </a:pPr>
            <a:r>
              <a:rPr lang="en-US" sz="1750" dirty="0">
                <a:solidFill>
                  <a:srgbClr val="C9C9C0"/>
                </a:solidFill>
                <a:latin typeface="Tomorrow" pitchFamily="34" charset="0"/>
                <a:ea typeface="Tomorrow" pitchFamily="34" charset="-122"/>
                <a:cs typeface="Tomorrow" pitchFamily="34" charset="-120"/>
              </a:rPr>
              <a:t>Protects user data by adding small random changes (noise) to model updates before sharing them.</a:t>
            </a:r>
            <a:endParaRPr lang="en-US" sz="1750" dirty="0"/>
          </a:p>
        </p:txBody>
      </p:sp>
      <p:sp>
        <p:nvSpPr>
          <p:cNvPr id="10" name="Shape 6"/>
          <p:cNvSpPr/>
          <p:nvPr/>
        </p:nvSpPr>
        <p:spPr>
          <a:xfrm>
            <a:off x="7539871" y="6159222"/>
            <a:ext cx="680442" cy="30480"/>
          </a:xfrm>
          <a:prstGeom prst="roundRect">
            <a:avLst>
              <a:gd name="adj" fmla="val 111628"/>
            </a:avLst>
          </a:prstGeom>
          <a:solidFill>
            <a:srgbClr val="555553"/>
          </a:solidFill>
          <a:ln/>
        </p:spPr>
      </p:sp>
      <p:sp>
        <p:nvSpPr>
          <p:cNvPr id="11" name="Shape 7"/>
          <p:cNvSpPr/>
          <p:nvPr/>
        </p:nvSpPr>
        <p:spPr>
          <a:xfrm>
            <a:off x="7060049" y="5919311"/>
            <a:ext cx="510302" cy="510302"/>
          </a:xfrm>
          <a:prstGeom prst="roundRect">
            <a:avLst>
              <a:gd name="adj" fmla="val 6667"/>
            </a:avLst>
          </a:prstGeom>
          <a:solidFill>
            <a:srgbClr val="3C3C3A"/>
          </a:solidFill>
          <a:ln/>
        </p:spPr>
      </p:sp>
      <p:pic>
        <p:nvPicPr>
          <p:cNvPr id="12" name="Image 2" descr="preencoded.png">    </p:cNvPr>
          <p:cNvPicPr>
            <a:picLocks noChangeAspect="1"/>
          </p:cNvPicPr>
          <p:nvPr/>
        </p:nvPicPr>
        <p:blipFill>
          <a:blip r:embed="rId3"/>
          <a:stretch>
            <a:fillRect/>
          </a:stretch>
        </p:blipFill>
        <p:spPr>
          <a:xfrm>
            <a:off x="7145119" y="5961817"/>
            <a:ext cx="340162" cy="425291"/>
          </a:xfrm>
          <a:prstGeom prst="rect">
            <a:avLst/>
          </a:prstGeom>
        </p:spPr>
      </p:pic>
      <p:sp>
        <p:nvSpPr>
          <p:cNvPr id="13" name="Text 8"/>
          <p:cNvSpPr/>
          <p:nvPr/>
        </p:nvSpPr>
        <p:spPr>
          <a:xfrm>
            <a:off x="8449270" y="589097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Secure MPC (SMPC)</a:t>
            </a:r>
            <a:endParaRPr lang="en-US" sz="2200" dirty="0"/>
          </a:p>
        </p:txBody>
      </p:sp>
      <p:sp>
        <p:nvSpPr>
          <p:cNvPr id="14" name="Text 9"/>
          <p:cNvSpPr/>
          <p:nvPr/>
        </p:nvSpPr>
        <p:spPr>
          <a:xfrm>
            <a:off x="8449270" y="6381393"/>
            <a:ext cx="5387340" cy="725805"/>
          </a:xfrm>
          <a:prstGeom prst="rect">
            <a:avLst/>
          </a:prstGeom>
          <a:noFill/>
          <a:ln/>
        </p:spPr>
        <p:txBody>
          <a:bodyPr wrap="squar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Allows multiple users to train a model without revealing their individual data to anyone.</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835235"/>
          </a:xfrm>
          <a:prstGeom prst="rect">
            <a:avLst/>
          </a:prstGeom>
        </p:spPr>
      </p:pic>
      <p:sp>
        <p:nvSpPr>
          <p:cNvPr id="3" name="Text 0"/>
          <p:cNvSpPr/>
          <p:nvPr/>
        </p:nvSpPr>
        <p:spPr>
          <a:xfrm>
            <a:off x="793790" y="4002881"/>
            <a:ext cx="8818245" cy="708779"/>
          </a:xfrm>
          <a:prstGeom prst="rect">
            <a:avLst/>
          </a:prstGeom>
          <a:noFill/>
          <a:ln/>
        </p:spPr>
        <p:txBody>
          <a:bodyPr wrap="none" lIns="0" tIns="0" rIns="0" bIns="0" rtlCol="0" anchor="t"/>
          <a:lstStyle/>
          <a:p>
            <a:pPr algn="l" indent="0" marL="0">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Evaluation Metrics for Fairness</a:t>
            </a:r>
            <a:endParaRPr lang="en-US" sz="4450" dirty="0"/>
          </a:p>
        </p:txBody>
      </p:sp>
      <p:pic>
        <p:nvPicPr>
          <p:cNvPr id="4" name="Image 1" descr="preencoded.png">    </p:cNvPr>
          <p:cNvPicPr>
            <a:picLocks noChangeAspect="1"/>
          </p:cNvPicPr>
          <p:nvPr/>
        </p:nvPicPr>
        <p:blipFill>
          <a:blip r:embed="rId2"/>
          <a:stretch>
            <a:fillRect/>
          </a:stretch>
        </p:blipFill>
        <p:spPr>
          <a:xfrm>
            <a:off x="793790" y="5051822"/>
            <a:ext cx="566976" cy="566976"/>
          </a:xfrm>
          <a:prstGeom prst="rect">
            <a:avLst/>
          </a:prstGeom>
        </p:spPr>
      </p:pic>
      <p:sp>
        <p:nvSpPr>
          <p:cNvPr id="5" name="Text 1"/>
          <p:cNvSpPr/>
          <p:nvPr/>
        </p:nvSpPr>
        <p:spPr>
          <a:xfrm>
            <a:off x="793790" y="5845612"/>
            <a:ext cx="2849880" cy="354330"/>
          </a:xfrm>
          <a:prstGeom prst="rect">
            <a:avLst/>
          </a:prstGeom>
          <a:noFill/>
          <a:ln/>
        </p:spPr>
        <p:txBody>
          <a:bodyPr wrap="none" lIns="0" tIns="0" rIns="0" bIns="0" rtlCol="0" anchor="t"/>
          <a:lstStyle/>
          <a:p>
            <a:pPr algn="l" indent="0" marL="0">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Demographic Parity</a:t>
            </a:r>
            <a:endParaRPr lang="en-US" sz="2200" dirty="0"/>
          </a:p>
        </p:txBody>
      </p:sp>
      <p:sp>
        <p:nvSpPr>
          <p:cNvPr id="6" name="Text 2"/>
          <p:cNvSpPr/>
          <p:nvPr/>
        </p:nvSpPr>
        <p:spPr>
          <a:xfrm>
            <a:off x="793790" y="6336030"/>
            <a:ext cx="4120753" cy="725805"/>
          </a:xfrm>
          <a:prstGeom prst="rect">
            <a:avLst/>
          </a:prstGeom>
          <a:noFill/>
          <a:ln/>
        </p:spPr>
        <p:txBody>
          <a:bodyPr wrap="squar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Ensures equal outcome distribution across different demographic groups.</a:t>
            </a:r>
            <a:endParaRPr lang="en-US" sz="1750" dirty="0"/>
          </a:p>
        </p:txBody>
      </p:sp>
      <p:pic>
        <p:nvPicPr>
          <p:cNvPr id="7" name="Image 2" descr="preencoded.png">    </p:cNvPr>
          <p:cNvPicPr>
            <a:picLocks noChangeAspect="1"/>
          </p:cNvPicPr>
          <p:nvPr/>
        </p:nvPicPr>
        <p:blipFill>
          <a:blip r:embed="rId3"/>
          <a:stretch>
            <a:fillRect/>
          </a:stretch>
        </p:blipFill>
        <p:spPr>
          <a:xfrm>
            <a:off x="5254704" y="5051822"/>
            <a:ext cx="566976" cy="566976"/>
          </a:xfrm>
          <a:prstGeom prst="rect">
            <a:avLst/>
          </a:prstGeom>
        </p:spPr>
      </p:pic>
      <p:sp>
        <p:nvSpPr>
          <p:cNvPr id="8" name="Text 3"/>
          <p:cNvSpPr/>
          <p:nvPr/>
        </p:nvSpPr>
        <p:spPr>
          <a:xfrm>
            <a:off x="5254704" y="584561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Equalized Odds</a:t>
            </a:r>
            <a:endParaRPr lang="en-US" sz="2200" dirty="0"/>
          </a:p>
        </p:txBody>
      </p:sp>
      <p:sp>
        <p:nvSpPr>
          <p:cNvPr id="9" name="Text 4"/>
          <p:cNvSpPr/>
          <p:nvPr/>
        </p:nvSpPr>
        <p:spPr>
          <a:xfrm>
            <a:off x="5254704" y="6336030"/>
            <a:ext cx="4120872" cy="725805"/>
          </a:xfrm>
          <a:prstGeom prst="rect">
            <a:avLst/>
          </a:prstGeom>
          <a:noFill/>
          <a:ln/>
        </p:spPr>
        <p:txBody>
          <a:bodyPr wrap="squar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Balances false positives and false negatives across groups.</a:t>
            </a:r>
            <a:endParaRPr lang="en-US" sz="1750" dirty="0"/>
          </a:p>
        </p:txBody>
      </p:sp>
      <p:pic>
        <p:nvPicPr>
          <p:cNvPr id="10" name="Image 3" descr="preencoded.png">    </p:cNvPr>
          <p:cNvPicPr>
            <a:picLocks noChangeAspect="1"/>
          </p:cNvPicPr>
          <p:nvPr/>
        </p:nvPicPr>
        <p:blipFill>
          <a:blip r:embed="rId4"/>
          <a:stretch>
            <a:fillRect/>
          </a:stretch>
        </p:blipFill>
        <p:spPr>
          <a:xfrm>
            <a:off x="9715738" y="5051822"/>
            <a:ext cx="566976" cy="566976"/>
          </a:xfrm>
          <a:prstGeom prst="rect">
            <a:avLst/>
          </a:prstGeom>
        </p:spPr>
      </p:pic>
      <p:sp>
        <p:nvSpPr>
          <p:cNvPr id="11" name="Text 5"/>
          <p:cNvSpPr/>
          <p:nvPr/>
        </p:nvSpPr>
        <p:spPr>
          <a:xfrm>
            <a:off x="9715738" y="5845612"/>
            <a:ext cx="3535680" cy="354330"/>
          </a:xfrm>
          <a:prstGeom prst="rect">
            <a:avLst/>
          </a:prstGeom>
          <a:noFill/>
          <a:ln/>
        </p:spPr>
        <p:txBody>
          <a:bodyPr wrap="none" lIns="0" tIns="0" rIns="0" bIns="0" rtlCol="0" anchor="t"/>
          <a:lstStyle/>
          <a:p>
            <a:pPr algn="l" indent="0" marL="0">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Federated Shapley Value</a:t>
            </a:r>
            <a:endParaRPr lang="en-US" sz="2200" dirty="0"/>
          </a:p>
        </p:txBody>
      </p:sp>
      <p:sp>
        <p:nvSpPr>
          <p:cNvPr id="12" name="Text 6"/>
          <p:cNvSpPr/>
          <p:nvPr/>
        </p:nvSpPr>
        <p:spPr>
          <a:xfrm>
            <a:off x="9715738" y="6336030"/>
            <a:ext cx="4120753" cy="725805"/>
          </a:xfrm>
          <a:prstGeom prst="rect">
            <a:avLst/>
          </a:prstGeom>
          <a:noFill/>
          <a:ln/>
        </p:spPr>
        <p:txBody>
          <a:bodyPr wrap="squar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Quantifies each client's contribution to the global model's performance.</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2005489"/>
            <a:ext cx="9585841" cy="708779"/>
          </a:xfrm>
          <a:prstGeom prst="rect">
            <a:avLst/>
          </a:prstGeom>
          <a:noFill/>
          <a:ln/>
        </p:spPr>
        <p:txBody>
          <a:bodyPr wrap="none" lIns="0" tIns="0" rIns="0" bIns="0" rtlCol="0" anchor="t"/>
          <a:lstStyle/>
          <a:p>
            <a:pPr algn="l" indent="0" marL="0">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Challenges of Federated Learning</a:t>
            </a:r>
            <a:endParaRPr lang="en-US" sz="4450" dirty="0"/>
          </a:p>
        </p:txBody>
      </p:sp>
      <p:sp>
        <p:nvSpPr>
          <p:cNvPr id="3" name="Shape 1"/>
          <p:cNvSpPr/>
          <p:nvPr/>
        </p:nvSpPr>
        <p:spPr>
          <a:xfrm>
            <a:off x="793790" y="3309580"/>
            <a:ext cx="510302" cy="510302"/>
          </a:xfrm>
          <a:prstGeom prst="roundRect">
            <a:avLst>
              <a:gd name="adj" fmla="val 6667"/>
            </a:avLst>
          </a:prstGeom>
          <a:solidFill>
            <a:srgbClr val="3C3C3A"/>
          </a:solidFill>
          <a:ln/>
        </p:spPr>
      </p:sp>
      <p:sp>
        <p:nvSpPr>
          <p:cNvPr id="4" name="Text 2"/>
          <p:cNvSpPr/>
          <p:nvPr/>
        </p:nvSpPr>
        <p:spPr>
          <a:xfrm>
            <a:off x="1530906" y="3309580"/>
            <a:ext cx="3911918" cy="354330"/>
          </a:xfrm>
          <a:prstGeom prst="rect">
            <a:avLst/>
          </a:prstGeom>
          <a:noFill/>
          <a:ln/>
        </p:spPr>
        <p:txBody>
          <a:bodyPr wrap="none" lIns="0" tIns="0" rIns="0" bIns="0" rtlCol="0" anchor="t"/>
          <a:lstStyle/>
          <a:p>
            <a:pPr algn="l" indent="0" marL="0">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High Communication Costs</a:t>
            </a:r>
            <a:endParaRPr lang="en-US" sz="2200" dirty="0"/>
          </a:p>
        </p:txBody>
      </p:sp>
      <p:sp>
        <p:nvSpPr>
          <p:cNvPr id="5" name="Text 3"/>
          <p:cNvSpPr/>
          <p:nvPr/>
        </p:nvSpPr>
        <p:spPr>
          <a:xfrm>
            <a:off x="1530906" y="3799999"/>
            <a:ext cx="5670947" cy="725805"/>
          </a:xfrm>
          <a:prstGeom prst="rect">
            <a:avLst/>
          </a:prstGeom>
          <a:noFill/>
          <a:ln/>
        </p:spPr>
        <p:txBody>
          <a:bodyPr wrap="squar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FL require frequent communication between devices and servers , which slow down learning.</a:t>
            </a:r>
            <a:endParaRPr lang="en-US" sz="1750" dirty="0"/>
          </a:p>
        </p:txBody>
      </p:sp>
      <p:sp>
        <p:nvSpPr>
          <p:cNvPr id="6" name="Shape 4"/>
          <p:cNvSpPr/>
          <p:nvPr/>
        </p:nvSpPr>
        <p:spPr>
          <a:xfrm>
            <a:off x="7428667" y="3309580"/>
            <a:ext cx="510302" cy="510302"/>
          </a:xfrm>
          <a:prstGeom prst="roundRect">
            <a:avLst>
              <a:gd name="adj" fmla="val 6667"/>
            </a:avLst>
          </a:prstGeom>
          <a:solidFill>
            <a:srgbClr val="3C3C3A"/>
          </a:solidFill>
          <a:ln/>
        </p:spPr>
      </p:sp>
      <p:sp>
        <p:nvSpPr>
          <p:cNvPr id="7" name="Text 5"/>
          <p:cNvSpPr/>
          <p:nvPr/>
        </p:nvSpPr>
        <p:spPr>
          <a:xfrm>
            <a:off x="8165783" y="3309580"/>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Scalability </a:t>
            </a:r>
            <a:endParaRPr lang="en-US" sz="2200" dirty="0"/>
          </a:p>
        </p:txBody>
      </p:sp>
      <p:sp>
        <p:nvSpPr>
          <p:cNvPr id="8" name="Text 6"/>
          <p:cNvSpPr/>
          <p:nvPr/>
        </p:nvSpPr>
        <p:spPr>
          <a:xfrm>
            <a:off x="8165783" y="3799999"/>
            <a:ext cx="5670947" cy="725805"/>
          </a:xfrm>
          <a:prstGeom prst="rect">
            <a:avLst/>
          </a:prstGeom>
          <a:noFill/>
          <a:ln/>
        </p:spPr>
        <p:txBody>
          <a:bodyPr wrap="squar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FL must efficiently handle millions of devices without reducing accuracy.</a:t>
            </a:r>
            <a:endParaRPr lang="en-US" sz="1750" dirty="0"/>
          </a:p>
        </p:txBody>
      </p:sp>
      <p:sp>
        <p:nvSpPr>
          <p:cNvPr id="9" name="Shape 7"/>
          <p:cNvSpPr/>
          <p:nvPr/>
        </p:nvSpPr>
        <p:spPr>
          <a:xfrm>
            <a:off x="793790" y="5007769"/>
            <a:ext cx="510302" cy="510302"/>
          </a:xfrm>
          <a:prstGeom prst="roundRect">
            <a:avLst>
              <a:gd name="adj" fmla="val 6667"/>
            </a:avLst>
          </a:prstGeom>
          <a:solidFill>
            <a:srgbClr val="3C3C3A"/>
          </a:solidFill>
          <a:ln/>
        </p:spPr>
      </p:sp>
      <p:sp>
        <p:nvSpPr>
          <p:cNvPr id="10" name="Text 8"/>
          <p:cNvSpPr/>
          <p:nvPr/>
        </p:nvSpPr>
        <p:spPr>
          <a:xfrm>
            <a:off x="1530906" y="500776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Security Threats</a:t>
            </a:r>
            <a:endParaRPr lang="en-US" sz="2200" dirty="0"/>
          </a:p>
        </p:txBody>
      </p:sp>
      <p:sp>
        <p:nvSpPr>
          <p:cNvPr id="11" name="Text 9"/>
          <p:cNvSpPr/>
          <p:nvPr/>
        </p:nvSpPr>
        <p:spPr>
          <a:xfrm>
            <a:off x="1530906" y="5498187"/>
            <a:ext cx="5670947" cy="725805"/>
          </a:xfrm>
          <a:prstGeom prst="rect">
            <a:avLst/>
          </a:prstGeom>
          <a:noFill/>
          <a:ln/>
        </p:spPr>
        <p:txBody>
          <a:bodyPr wrap="squar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FL is vulnerable to adversarial attacks and poisoned updates.</a:t>
            </a:r>
            <a:endParaRPr lang="en-US" sz="1750" dirty="0"/>
          </a:p>
        </p:txBody>
      </p:sp>
      <p:sp>
        <p:nvSpPr>
          <p:cNvPr id="12" name="Shape 10"/>
          <p:cNvSpPr/>
          <p:nvPr/>
        </p:nvSpPr>
        <p:spPr>
          <a:xfrm>
            <a:off x="7428667" y="5007769"/>
            <a:ext cx="510302" cy="510302"/>
          </a:xfrm>
          <a:prstGeom prst="roundRect">
            <a:avLst>
              <a:gd name="adj" fmla="val 6667"/>
            </a:avLst>
          </a:prstGeom>
          <a:solidFill>
            <a:srgbClr val="3C3C3A"/>
          </a:solidFill>
          <a:ln/>
        </p:spPr>
      </p:sp>
      <p:sp>
        <p:nvSpPr>
          <p:cNvPr id="13" name="Text 11"/>
          <p:cNvSpPr/>
          <p:nvPr/>
        </p:nvSpPr>
        <p:spPr>
          <a:xfrm>
            <a:off x="8165783" y="500776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Fairness &amp; Bias</a:t>
            </a:r>
            <a:endParaRPr lang="en-US" sz="2200" dirty="0"/>
          </a:p>
        </p:txBody>
      </p:sp>
      <p:sp>
        <p:nvSpPr>
          <p:cNvPr id="14" name="Text 12"/>
          <p:cNvSpPr/>
          <p:nvPr/>
        </p:nvSpPr>
        <p:spPr>
          <a:xfrm>
            <a:off x="8165783" y="5498187"/>
            <a:ext cx="5670947" cy="725805"/>
          </a:xfrm>
          <a:prstGeom prst="rect">
            <a:avLst/>
          </a:prstGeom>
          <a:noFill/>
          <a:ln/>
        </p:spPr>
        <p:txBody>
          <a:bodyPr wrap="squar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Ensuring equal representation of all users remains a challenge.</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296829"/>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Future of Federated Learning</a:t>
            </a:r>
            <a:endParaRPr lang="en-US" sz="4450" dirty="0"/>
          </a:p>
        </p:txBody>
      </p:sp>
      <p:sp>
        <p:nvSpPr>
          <p:cNvPr id="4" name="Shape 1"/>
          <p:cNvSpPr/>
          <p:nvPr/>
        </p:nvSpPr>
        <p:spPr>
          <a:xfrm>
            <a:off x="793790" y="3309699"/>
            <a:ext cx="510302" cy="510302"/>
          </a:xfrm>
          <a:prstGeom prst="roundRect">
            <a:avLst>
              <a:gd name="adj" fmla="val 6667"/>
            </a:avLst>
          </a:prstGeom>
          <a:solidFill>
            <a:srgbClr val="3C3C3A"/>
          </a:solidFill>
          <a:ln/>
        </p:spPr>
      </p:sp>
      <p:sp>
        <p:nvSpPr>
          <p:cNvPr id="5" name="Text 2"/>
          <p:cNvSpPr/>
          <p:nvPr/>
        </p:nvSpPr>
        <p:spPr>
          <a:xfrm>
            <a:off x="1530906" y="3309699"/>
            <a:ext cx="2927747" cy="708660"/>
          </a:xfrm>
          <a:prstGeom prst="rect">
            <a:avLst/>
          </a:prstGeom>
          <a:noFill/>
          <a:ln/>
        </p:spPr>
        <p:txBody>
          <a:bodyPr wrap="square" lIns="0" tIns="0" rIns="0" bIns="0" rtlCol="0" anchor="t"/>
          <a:lstStyle/>
          <a:p>
            <a:pPr algn="l" indent="0" marL="0">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More Decentralized Models</a:t>
            </a:r>
            <a:endParaRPr lang="en-US" sz="2200" dirty="0"/>
          </a:p>
        </p:txBody>
      </p:sp>
      <p:sp>
        <p:nvSpPr>
          <p:cNvPr id="6" name="Text 3"/>
          <p:cNvSpPr/>
          <p:nvPr/>
        </p:nvSpPr>
        <p:spPr>
          <a:xfrm>
            <a:off x="1530906" y="4154448"/>
            <a:ext cx="2927747" cy="725805"/>
          </a:xfrm>
          <a:prstGeom prst="rect">
            <a:avLst/>
          </a:prstGeom>
          <a:noFill/>
          <a:ln/>
        </p:spPr>
        <p:txBody>
          <a:bodyPr wrap="squar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To improve speed &amp; efficiency.</a:t>
            </a:r>
            <a:endParaRPr lang="en-US" sz="1750" dirty="0"/>
          </a:p>
        </p:txBody>
      </p:sp>
      <p:sp>
        <p:nvSpPr>
          <p:cNvPr id="7" name="Shape 4"/>
          <p:cNvSpPr/>
          <p:nvPr/>
        </p:nvSpPr>
        <p:spPr>
          <a:xfrm>
            <a:off x="4685467" y="3309699"/>
            <a:ext cx="510302" cy="510302"/>
          </a:xfrm>
          <a:prstGeom prst="roundRect">
            <a:avLst>
              <a:gd name="adj" fmla="val 6667"/>
            </a:avLst>
          </a:prstGeom>
          <a:solidFill>
            <a:srgbClr val="3C3C3A"/>
          </a:solidFill>
          <a:ln/>
        </p:spPr>
      </p:sp>
      <p:sp>
        <p:nvSpPr>
          <p:cNvPr id="8" name="Text 5"/>
          <p:cNvSpPr/>
          <p:nvPr/>
        </p:nvSpPr>
        <p:spPr>
          <a:xfrm>
            <a:off x="5422583" y="3309699"/>
            <a:ext cx="2927747" cy="708660"/>
          </a:xfrm>
          <a:prstGeom prst="rect">
            <a:avLst/>
          </a:prstGeom>
          <a:noFill/>
          <a:ln/>
        </p:spPr>
        <p:txBody>
          <a:bodyPr wrap="square" lIns="0" tIns="0" rIns="0" bIns="0" rtlCol="0" anchor="t"/>
          <a:lstStyle/>
          <a:p>
            <a:pPr algn="l" indent="0" marL="0">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Better Fairness Techniques</a:t>
            </a:r>
            <a:endParaRPr lang="en-US" sz="2200" dirty="0"/>
          </a:p>
        </p:txBody>
      </p:sp>
      <p:sp>
        <p:nvSpPr>
          <p:cNvPr id="9" name="Text 6"/>
          <p:cNvSpPr/>
          <p:nvPr/>
        </p:nvSpPr>
        <p:spPr>
          <a:xfrm>
            <a:off x="5422583" y="4154448"/>
            <a:ext cx="2927747" cy="725805"/>
          </a:xfrm>
          <a:prstGeom prst="rect">
            <a:avLst/>
          </a:prstGeom>
          <a:noFill/>
          <a:ln/>
        </p:spPr>
        <p:txBody>
          <a:bodyPr wrap="squar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To ensure equal model performance for all users.</a:t>
            </a:r>
            <a:endParaRPr lang="en-US" sz="1750" dirty="0"/>
          </a:p>
        </p:txBody>
      </p:sp>
      <p:sp>
        <p:nvSpPr>
          <p:cNvPr id="10" name="Shape 7"/>
          <p:cNvSpPr/>
          <p:nvPr/>
        </p:nvSpPr>
        <p:spPr>
          <a:xfrm>
            <a:off x="793790" y="5362218"/>
            <a:ext cx="510302" cy="510302"/>
          </a:xfrm>
          <a:prstGeom prst="roundRect">
            <a:avLst>
              <a:gd name="adj" fmla="val 6667"/>
            </a:avLst>
          </a:prstGeom>
          <a:solidFill>
            <a:srgbClr val="3C3C3A"/>
          </a:solidFill>
          <a:ln/>
        </p:spPr>
      </p:sp>
      <p:sp>
        <p:nvSpPr>
          <p:cNvPr id="11" name="Text 8"/>
          <p:cNvSpPr/>
          <p:nvPr/>
        </p:nvSpPr>
        <p:spPr>
          <a:xfrm>
            <a:off x="1530906" y="5362218"/>
            <a:ext cx="2927747" cy="708660"/>
          </a:xfrm>
          <a:prstGeom prst="rect">
            <a:avLst/>
          </a:prstGeom>
          <a:noFill/>
          <a:ln/>
        </p:spPr>
        <p:txBody>
          <a:bodyPr wrap="square" lIns="0" tIns="0" rIns="0" bIns="0" rtlCol="0" anchor="t"/>
          <a:lstStyle/>
          <a:p>
            <a:pPr algn="l" indent="0" marL="0">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Stronger Privacy Protection</a:t>
            </a:r>
            <a:endParaRPr lang="en-US" sz="2200" dirty="0"/>
          </a:p>
        </p:txBody>
      </p:sp>
      <p:sp>
        <p:nvSpPr>
          <p:cNvPr id="12" name="Text 9"/>
          <p:cNvSpPr/>
          <p:nvPr/>
        </p:nvSpPr>
        <p:spPr>
          <a:xfrm>
            <a:off x="1530906" y="6206966"/>
            <a:ext cx="2927747" cy="362903"/>
          </a:xfrm>
          <a:prstGeom prst="rect">
            <a:avLst/>
          </a:prstGeom>
          <a:noFill/>
          <a:ln/>
        </p:spPr>
        <p:txBody>
          <a:bodyPr wrap="non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To prevent security risks.</a:t>
            </a:r>
            <a:endParaRPr lang="en-US" sz="1750" dirty="0"/>
          </a:p>
        </p:txBody>
      </p:sp>
      <p:sp>
        <p:nvSpPr>
          <p:cNvPr id="13" name="Shape 10"/>
          <p:cNvSpPr/>
          <p:nvPr/>
        </p:nvSpPr>
        <p:spPr>
          <a:xfrm>
            <a:off x="4685467" y="5362218"/>
            <a:ext cx="510302" cy="510302"/>
          </a:xfrm>
          <a:prstGeom prst="roundRect">
            <a:avLst>
              <a:gd name="adj" fmla="val 6667"/>
            </a:avLst>
          </a:prstGeom>
          <a:solidFill>
            <a:srgbClr val="3C3C3A"/>
          </a:solidFill>
          <a:ln/>
        </p:spPr>
      </p:sp>
      <p:sp>
        <p:nvSpPr>
          <p:cNvPr id="14" name="Text 11"/>
          <p:cNvSpPr/>
          <p:nvPr/>
        </p:nvSpPr>
        <p:spPr>
          <a:xfrm>
            <a:off x="5422583" y="5362218"/>
            <a:ext cx="2927747" cy="708660"/>
          </a:xfrm>
          <a:prstGeom prst="rect">
            <a:avLst/>
          </a:prstGeom>
          <a:noFill/>
          <a:ln/>
        </p:spPr>
        <p:txBody>
          <a:bodyPr wrap="square" lIns="0" tIns="0" rIns="0" bIns="0" rtlCol="0" anchor="t"/>
          <a:lstStyle/>
          <a:p>
            <a:pPr algn="l" indent="0" marL="0">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Integration with Edge Computing</a:t>
            </a:r>
            <a:endParaRPr lang="en-US" sz="2200" dirty="0"/>
          </a:p>
        </p:txBody>
      </p:sp>
      <p:sp>
        <p:nvSpPr>
          <p:cNvPr id="15" name="Text 12"/>
          <p:cNvSpPr/>
          <p:nvPr/>
        </p:nvSpPr>
        <p:spPr>
          <a:xfrm>
            <a:off x="5422583" y="6206966"/>
            <a:ext cx="2927747" cy="725805"/>
          </a:xfrm>
          <a:prstGeom prst="rect">
            <a:avLst/>
          </a:prstGeom>
          <a:noFill/>
          <a:ln/>
        </p:spPr>
        <p:txBody>
          <a:bodyPr wrap="squar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For real time AI processing.</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2989183"/>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Conclusion</a:t>
            </a:r>
            <a:endParaRPr lang="en-US" sz="4450" dirty="0"/>
          </a:p>
        </p:txBody>
      </p:sp>
      <p:sp>
        <p:nvSpPr>
          <p:cNvPr id="3" name="Text 1"/>
          <p:cNvSpPr/>
          <p:nvPr/>
        </p:nvSpPr>
        <p:spPr>
          <a:xfrm>
            <a:off x="793790" y="4151590"/>
            <a:ext cx="13042821" cy="1088708"/>
          </a:xfrm>
          <a:prstGeom prst="rect">
            <a:avLst/>
          </a:prstGeom>
          <a:noFill/>
          <a:ln/>
        </p:spPr>
        <p:txBody>
          <a:bodyPr wrap="squar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Federated Learning improves machine learning privacy, but fairness challenges remain due to data bias and unequal contributions. Fair client selection, balanced aggregation, and privacy techniques are crucial. Future research should prioritize scalability, security, and fairness evaluations for equitable and effective FL models.</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972800" y="0"/>
            <a:ext cx="3657600" cy="8229600"/>
          </a:xfrm>
          <a:prstGeom prst="rect">
            <a:avLst/>
          </a:prstGeom>
        </p:spPr>
      </p:pic>
      <p:sp>
        <p:nvSpPr>
          <p:cNvPr id="3" name="Text 0"/>
          <p:cNvSpPr/>
          <p:nvPr/>
        </p:nvSpPr>
        <p:spPr>
          <a:xfrm>
            <a:off x="793790" y="3405902"/>
            <a:ext cx="9385221" cy="1417677"/>
          </a:xfrm>
          <a:prstGeom prst="rect">
            <a:avLst/>
          </a:prstGeom>
          <a:noFill/>
          <a:ln/>
        </p:spPr>
        <p:txBody>
          <a:bodyPr wrap="none" lIns="0" tIns="0" rIns="0" bIns="0" rtlCol="0" anchor="t"/>
          <a:lstStyle/>
          <a:p>
            <a:pPr algn="l" indent="0" marL="0">
              <a:lnSpc>
                <a:spcPts val="11150"/>
              </a:lnSpc>
              <a:buNone/>
            </a:pPr>
            <a:r>
              <a:rPr lang="en-US" sz="8900" dirty="0">
                <a:solidFill>
                  <a:srgbClr val="EDEDE8"/>
                </a:solidFill>
                <a:latin typeface="Tomorrow Semi Bold" pitchFamily="34" charset="0"/>
                <a:ea typeface="Tomorrow Semi Bold" pitchFamily="34" charset="-122"/>
                <a:cs typeface="Tomorrow Semi Bold" pitchFamily="34" charset="-120"/>
              </a:rPr>
              <a:t>THANK YOU</a:t>
            </a:r>
            <a:endParaRPr lang="en-US" sz="8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2025-03-27T03:46:55Z</dcterms:created>
  <dcterms:modified xsi:type="dcterms:W3CDTF">2025-03-27T03:46:55Z</dcterms:modified>
</cp:coreProperties>
</file>